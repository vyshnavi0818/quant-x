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6" r:id="rId5"/>
    <p:sldId id="301" r:id="rId6"/>
    <p:sldId id="297" r:id="rId7"/>
    <p:sldId id="261" r:id="rId8"/>
    <p:sldId id="298" r:id="rId9"/>
    <p:sldId id="279" r:id="rId10"/>
    <p:sldId id="276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4400"/>
    <a:srgbClr val="446992"/>
    <a:srgbClr val="AEC2D8"/>
    <a:srgbClr val="98432A"/>
    <a:srgbClr val="44678D"/>
    <a:srgbClr val="263E5A"/>
    <a:srgbClr val="D6E0EB"/>
    <a:srgbClr val="728DAB"/>
    <a:srgbClr val="C95B3A"/>
    <a:srgbClr val="2D4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839" autoAdjust="0"/>
  </p:normalViewPr>
  <p:slideViewPr>
    <p:cSldViewPr snapToGrid="0" showGuides="1">
      <p:cViewPr varScale="1">
        <p:scale>
          <a:sx n="78" d="100"/>
          <a:sy n="78" d="100"/>
        </p:scale>
        <p:origin x="878" y="67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491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9/20/2026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0D2594CA-29C5-062F-2EA7-C593B096C62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E04BB896-BA64-B358-A066-15B96D23BC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EFA2818-7747-F326-294F-EEAC9BEF6EB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B76E0F0-B7F9-756A-3EA4-2114B75370E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0CF20C-6BCC-41A4-8C16-5A346425718D}" type="datetimeFigureOut">
              <a:rPr lang="en-US" smtClean="0"/>
              <a:t>9/20/2026</a:t>
            </a:fld>
            <a:endParaRPr lang="en-US" dirty="0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5161C21F-108C-0F07-CDDD-AFB8DDBF69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507CBA7-2A1E-725E-35DA-D1CFF08EC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60679C-80C7-4E7D-9614-ABA41C5B28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6</a:t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7</a:t>
            </a:fld>
            <a:endParaRPr lang="en-US" altLang="zh-CN" noProof="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hape 33">
            <a:extLst>
              <a:ext uri="{FF2B5EF4-FFF2-40B4-BE49-F238E27FC236}">
                <a16:creationId xmlns:a16="http://schemas.microsoft.com/office/drawing/2014/main" id="{4D81E37E-7366-D88D-83B8-BBA577CA4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897686" y="106446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pic>
        <p:nvPicPr>
          <p:cNvPr id="12" name="Shape 31">
            <a:extLst>
              <a:ext uri="{FF2B5EF4-FFF2-40B4-BE49-F238E27FC236}">
                <a16:creationId xmlns:a16="http://schemas.microsoft.com/office/drawing/2014/main" id="{A2E096B7-3B4F-355B-58E5-41784AC8BE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284315" y="398445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292" y="731520"/>
            <a:ext cx="5029200" cy="329184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168533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0894" y="4172084"/>
            <a:ext cx="4912598" cy="91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429000"/>
            <a:ext cx="4206240" cy="2377440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73CCCCFD-E0FE-BDB7-CF9D-FCA345E6BA5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5394325" y="3429000"/>
            <a:ext cx="3475038" cy="2378075"/>
          </a:xfrm>
        </p:spPr>
        <p:txBody>
          <a:bodyPr anchor="ctr"/>
          <a:lstStyle>
            <a:lvl1pPr marL="347472"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24C8F37E-3F74-F3FA-C9D8-7083DF2BBECC}"/>
              </a:ext>
            </a:extLst>
          </p:cNvPr>
          <p:cNvSpPr/>
          <p:nvPr userDrawn="1"/>
        </p:nvSpPr>
        <p:spPr>
          <a:xfrm>
            <a:off x="7325349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FB905CE6-1C2F-E053-4D14-6B86F4EFDC10}"/>
              </a:ext>
            </a:extLst>
          </p:cNvPr>
          <p:cNvSpPr/>
          <p:nvPr userDrawn="1"/>
        </p:nvSpPr>
        <p:spPr>
          <a:xfrm>
            <a:off x="9416816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12">
            <a:extLst>
              <a:ext uri="{FF2B5EF4-FFF2-40B4-BE49-F238E27FC236}">
                <a16:creationId xmlns:a16="http://schemas.microsoft.com/office/drawing/2014/main" id="{0B2D3BF4-495E-23C2-9911-15BC9E0D8EA7}"/>
              </a:ext>
            </a:extLst>
          </p:cNvPr>
          <p:cNvSpPr/>
          <p:nvPr userDrawn="1"/>
        </p:nvSpPr>
        <p:spPr>
          <a:xfrm>
            <a:off x="1571157" y="505838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62629C19-89EB-BC19-9230-7F7675E16EFF}"/>
              </a:ext>
            </a:extLst>
          </p:cNvPr>
          <p:cNvSpPr/>
          <p:nvPr userDrawn="1"/>
        </p:nvSpPr>
        <p:spPr>
          <a:xfrm>
            <a:off x="521034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481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464" y="731520"/>
            <a:ext cx="5029200" cy="3291840"/>
          </a:xfrm>
        </p:spPr>
        <p:txBody>
          <a:bodyPr anchor="b">
            <a:norm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17336" y="4172084"/>
            <a:ext cx="4910328" cy="10058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2" name="Freeform: Shape 5">
            <a:extLst>
              <a:ext uri="{FF2B5EF4-FFF2-40B4-BE49-F238E27FC236}">
                <a16:creationId xmlns:a16="http://schemas.microsoft.com/office/drawing/2014/main" id="{B17C1EC9-3787-8D41-B5F1-BF16FD5C7ACB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Freeform: Shape 6">
            <a:extLst>
              <a:ext uri="{FF2B5EF4-FFF2-40B4-BE49-F238E27FC236}">
                <a16:creationId xmlns:a16="http://schemas.microsoft.com/office/drawing/2014/main" id="{E945D8B2-8BED-B43F-8D56-AB19D0D29970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noProof="0" dirty="0"/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3853EA5E-735A-20F3-684A-C0AD030EC2D4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75DB4848-0824-8316-ED27-44DF37AD6F3D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7" name="Straight Connector 2">
            <a:extLst>
              <a:ext uri="{FF2B5EF4-FFF2-40B4-BE49-F238E27FC236}">
                <a16:creationId xmlns:a16="http://schemas.microsoft.com/office/drawing/2014/main" id="{8784B377-2FE4-4091-C29F-46938ECFA73E}"/>
              </a:ext>
            </a:extLst>
          </p:cNvPr>
          <p:cNvCxnSpPr/>
          <p:nvPr userDrawn="1"/>
        </p:nvCxnSpPr>
        <p:spPr>
          <a:xfrm>
            <a:off x="5998709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2612047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200400"/>
            <a:ext cx="5029200" cy="2743200"/>
          </a:xfrm>
        </p:spPr>
        <p:txBody>
          <a:bodyPr anchor="t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pic>
        <p:nvPicPr>
          <p:cNvPr id="10" name="Picture Placeholder 31">
            <a:extLst>
              <a:ext uri="{FF2B5EF4-FFF2-40B4-BE49-F238E27FC236}">
                <a16:creationId xmlns:a16="http://schemas.microsoft.com/office/drawing/2014/main" id="{373D33A6-83B0-5538-2873-8856E4E6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504265" y="3029080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accent5">
              <a:alpha val="30000"/>
            </a:schemeClr>
          </a:solidFill>
        </p:spPr>
      </p:pic>
      <p:sp>
        <p:nvSpPr>
          <p:cNvPr id="7" name="Content placeholder 47">
            <a:extLst>
              <a:ext uri="{FF2B5EF4-FFF2-40B4-BE49-F238E27FC236}">
                <a16:creationId xmlns:a16="http://schemas.microsoft.com/office/drawing/2014/main" id="{3944D979-8121-82AA-A130-38072F1EA83F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1872" y="2240280"/>
            <a:ext cx="5029200" cy="76028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5" name="Freeform: Shape 25">
            <a:extLst>
              <a:ext uri="{FF2B5EF4-FFF2-40B4-BE49-F238E27FC236}">
                <a16:creationId xmlns:a16="http://schemas.microsoft.com/office/drawing/2014/main" id="{8A1DBD66-3066-DF70-EF94-95DF0D7A6503}"/>
              </a:ext>
            </a:extLst>
          </p:cNvPr>
          <p:cNvSpPr/>
          <p:nvPr userDrawn="1"/>
        </p:nvSpPr>
        <p:spPr>
          <a:xfrm flipH="1">
            <a:off x="7400972" y="4594440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D2CC929C-40BF-4EF5-7910-7F657CAF8CA9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9" name="Straight Connector 2">
            <a:extLst>
              <a:ext uri="{FF2B5EF4-FFF2-40B4-BE49-F238E27FC236}">
                <a16:creationId xmlns:a16="http://schemas.microsoft.com/office/drawing/2014/main" id="{66E94398-47F0-267C-6791-5C30B1CEF496}"/>
              </a:ext>
            </a:extLst>
          </p:cNvPr>
          <p:cNvCxnSpPr/>
          <p:nvPr userDrawn="1"/>
        </p:nvCxnSpPr>
        <p:spPr>
          <a:xfrm>
            <a:off x="1142663" y="2282891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7779262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663440" cy="17373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7A93C-2947-B6E4-C693-7C485DDC0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0" y="731520"/>
            <a:ext cx="5486400" cy="17373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8A3F288-990F-014E-F099-1E3091477CA7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914400" y="2743200"/>
            <a:ext cx="8348472" cy="337413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3931920" cy="210312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317990C-ED42-30BE-0501-F9C5B4A48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931920" cy="26517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AC62875-1B1B-E814-6549-162A8DBF8929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5745002" y="0"/>
            <a:ext cx="6446999" cy="6858000"/>
          </a:xfrm>
          <a:custGeom>
            <a:avLst/>
            <a:gdLst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91FB993-29E1-3DBD-8335-7970016F8D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03802" y="480395"/>
            <a:ext cx="1896941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>
            <a:extLst>
              <a:ext uri="{FF2B5EF4-FFF2-40B4-BE49-F238E27FC236}">
                <a16:creationId xmlns:a16="http://schemas.microsoft.com/office/drawing/2014/main" id="{12BFFCE7-C68B-4904-8795-9589C3F38FD4}"/>
              </a:ext>
            </a:extLst>
          </p:cNvPr>
          <p:cNvSpPr/>
          <p:nvPr userDrawn="1"/>
        </p:nvSpPr>
        <p:spPr>
          <a:xfrm>
            <a:off x="636161" y="5854024"/>
            <a:ext cx="2330137" cy="708120"/>
          </a:xfrm>
          <a:prstGeom prst="rect">
            <a:avLst/>
          </a:prstGeom>
          <a:solidFill>
            <a:srgbClr val="0F26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reeform: Shape 19">
            <a:extLst>
              <a:ext uri="{FF2B5EF4-FFF2-40B4-BE49-F238E27FC236}">
                <a16:creationId xmlns:a16="http://schemas.microsoft.com/office/drawing/2014/main" id="{9D307BA6-8A60-85D7-CC8B-894256DC4B90}"/>
              </a:ext>
            </a:extLst>
          </p:cNvPr>
          <p:cNvSpPr/>
          <p:nvPr userDrawn="1"/>
        </p:nvSpPr>
        <p:spPr>
          <a:xfrm>
            <a:off x="8517470" y="2248218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>
            <a:off x="9578882" y="460803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>
            <a:off x="9522496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>
            <a:off x="11034052" y="3709992"/>
            <a:ext cx="117318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60704"/>
            <a:ext cx="7132320" cy="1773936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34C76-4814-6AFA-CEFD-F82B9ED9B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42F254A-B4C7-D072-FEB9-22F9A2B0CA64}"/>
              </a:ext>
            </a:extLst>
          </p:cNvPr>
          <p:cNvSpPr>
            <a:spLocks noGrp="1"/>
          </p:cNvSpPr>
          <p:nvPr>
            <p:ph idx="56"/>
          </p:nvPr>
        </p:nvSpPr>
        <p:spPr>
          <a:xfrm>
            <a:off x="475488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DBF4DF-D0B4-1DA6-0271-5D4033A9C19C}"/>
              </a:ext>
            </a:extLst>
          </p:cNvPr>
          <p:cNvSpPr>
            <a:spLocks noGrp="1"/>
          </p:cNvSpPr>
          <p:nvPr>
            <p:ph type="ftr" sz="quarter" idx="5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47">
            <a:extLst>
              <a:ext uri="{FF2B5EF4-FFF2-40B4-BE49-F238E27FC236}">
                <a16:creationId xmlns:a16="http://schemas.microsoft.com/office/drawing/2014/main" id="{117BCD91-6BBA-AACD-3424-C3A4E5C1AB1D}"/>
              </a:ext>
            </a:extLst>
          </p:cNvPr>
          <p:cNvSpPr>
            <a:spLocks noGrp="1" noChangeAspect="1"/>
          </p:cNvSpPr>
          <p:nvPr>
            <p:ph type="pic" sz="quarter" idx="48"/>
          </p:nvPr>
        </p:nvSpPr>
        <p:spPr>
          <a:xfrm>
            <a:off x="914400" y="539496"/>
            <a:ext cx="5025207" cy="577900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/>
              <a:t>Click icon to add picture</a:t>
            </a:r>
            <a:endParaRPr lang="en-US" altLang="zh-CN" noProof="0" dirty="0"/>
          </a:p>
        </p:txBody>
      </p:sp>
      <p:pic>
        <p:nvPicPr>
          <p:cNvPr id="7" name="Shape 33">
            <a:extLst>
              <a:ext uri="{FF2B5EF4-FFF2-40B4-BE49-F238E27FC236}">
                <a16:creationId xmlns:a16="http://schemas.microsoft.com/office/drawing/2014/main" id="{78B6A20E-2402-E586-7E92-A2C0D0B854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2010" y="4038403"/>
            <a:ext cx="1438713" cy="1645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Freeform: Shape 11">
            <a:extLst>
              <a:ext uri="{FF2B5EF4-FFF2-40B4-BE49-F238E27FC236}">
                <a16:creationId xmlns:a16="http://schemas.microsoft.com/office/drawing/2014/main" id="{20E24AA2-A4D8-FFB3-C801-0E57990B8CB6}"/>
              </a:ext>
            </a:extLst>
          </p:cNvPr>
          <p:cNvSpPr/>
          <p:nvPr userDrawn="1"/>
        </p:nvSpPr>
        <p:spPr>
          <a:xfrm>
            <a:off x="1360235" y="5541405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1FEC53F3-5030-5BCF-54CA-ABB14457C073}"/>
              </a:ext>
            </a:extLst>
          </p:cNvPr>
          <p:cNvSpPr/>
          <p:nvPr userDrawn="1"/>
        </p:nvSpPr>
        <p:spPr>
          <a:xfrm>
            <a:off x="5429027" y="393334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86721E85-C7DE-A05F-D33D-97CAF161E33A}"/>
              </a:ext>
            </a:extLst>
          </p:cNvPr>
          <p:cNvSpPr/>
          <p:nvPr userDrawn="1"/>
        </p:nvSpPr>
        <p:spPr>
          <a:xfrm>
            <a:off x="0" y="2860787"/>
            <a:ext cx="2004570" cy="3676532"/>
          </a:xfrm>
          <a:custGeom>
            <a:avLst/>
            <a:gdLst>
              <a:gd name="connsiteX0" fmla="*/ 417538 w 2004570"/>
              <a:gd name="connsiteY0" fmla="*/ 0 h 3676532"/>
              <a:gd name="connsiteX1" fmla="*/ 2004570 w 2004570"/>
              <a:gd name="connsiteY1" fmla="*/ 925683 h 3676532"/>
              <a:gd name="connsiteX2" fmla="*/ 2004570 w 2004570"/>
              <a:gd name="connsiteY2" fmla="*/ 2763949 h 3676532"/>
              <a:gd name="connsiteX3" fmla="*/ 413202 w 2004570"/>
              <a:gd name="connsiteY3" fmla="*/ 3676532 h 3676532"/>
              <a:gd name="connsiteX4" fmla="*/ 0 w 2004570"/>
              <a:gd name="connsiteY4" fmla="*/ 3439338 h 3676532"/>
              <a:gd name="connsiteX5" fmla="*/ 0 w 2004570"/>
              <a:gd name="connsiteY5" fmla="*/ 24107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04570" h="3676532">
                <a:moveTo>
                  <a:pt x="417538" y="0"/>
                </a:moveTo>
                <a:lnTo>
                  <a:pt x="2004570" y="925683"/>
                </a:lnTo>
                <a:lnTo>
                  <a:pt x="2004570" y="2763949"/>
                </a:lnTo>
                <a:lnTo>
                  <a:pt x="413202" y="3676532"/>
                </a:lnTo>
                <a:lnTo>
                  <a:pt x="0" y="3439338"/>
                </a:lnTo>
                <a:lnTo>
                  <a:pt x="0" y="24107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657773" y="5253270"/>
            <a:ext cx="1710765" cy="1621875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275432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576" y="1499616"/>
            <a:ext cx="7955280" cy="1335024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FFF81D2-C0B4-3B82-8DF6-D10CC07C441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465576" y="3108960"/>
            <a:ext cx="4572000" cy="3108960"/>
          </a:xfrm>
        </p:spPr>
        <p:txBody>
          <a:bodyPr/>
          <a:lstStyle>
            <a:lvl1pPr marL="512064" indent="-512064">
              <a:buFont typeface="+mj-lt"/>
              <a:buAutoNum type="arabicPeriod"/>
              <a:defRPr sz="1800"/>
            </a:lvl1pPr>
            <a:lvl2pPr marL="1097280" indent="-512064">
              <a:buFont typeface="+mj-lt"/>
              <a:buAutoNum type="alphaLcPeriod"/>
              <a:defRPr sz="1800"/>
            </a:lvl2pPr>
            <a:lvl3pPr marL="1645920" indent="-512064">
              <a:buFont typeface="+mj-lt"/>
              <a:buAutoNum type="romanLcPeriod"/>
              <a:defRPr sz="1800"/>
            </a:lvl3pPr>
            <a:lvl4pPr marL="2194560" indent="-512064">
              <a:buFont typeface="+mj-lt"/>
              <a:buAutoNum type="arabicParenR"/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90F721-56C7-251D-948D-117696095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0" y="3108960"/>
            <a:ext cx="3017520" cy="310896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94E8A0-C02C-2322-50C1-50080A793F84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>
          <a:xfrm>
            <a:off x="3465576" y="6217920"/>
            <a:ext cx="4114800" cy="365125"/>
          </a:xfrm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2">
            <a:extLst>
              <a:ext uri="{FF2B5EF4-FFF2-40B4-BE49-F238E27FC236}">
                <a16:creationId xmlns:a16="http://schemas.microsoft.com/office/drawing/2014/main" id="{0750FD92-E143-4402-D455-30DC417CBDBE}"/>
              </a:ext>
            </a:extLst>
          </p:cNvPr>
          <p:cNvSpPr/>
          <p:nvPr userDrawn="1"/>
        </p:nvSpPr>
        <p:spPr>
          <a:xfrm>
            <a:off x="1198465" y="958947"/>
            <a:ext cx="1544735" cy="174369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6B13E9E2-D67B-E75B-D60D-CE3782A4FC67}"/>
              </a:ext>
            </a:extLst>
          </p:cNvPr>
          <p:cNvSpPr/>
          <p:nvPr userDrawn="1"/>
        </p:nvSpPr>
        <p:spPr>
          <a:xfrm>
            <a:off x="326738" y="0"/>
            <a:ext cx="1544359" cy="1254845"/>
          </a:xfrm>
          <a:custGeom>
            <a:avLst/>
            <a:gdLst>
              <a:gd name="connsiteX0" fmla="*/ 0 w 1544359"/>
              <a:gd name="connsiteY0" fmla="*/ 0 h 1254845"/>
              <a:gd name="connsiteX1" fmla="*/ 1544359 w 1544359"/>
              <a:gd name="connsiteY1" fmla="*/ 0 h 1254845"/>
              <a:gd name="connsiteX2" fmla="*/ 1543519 w 1544359"/>
              <a:gd name="connsiteY2" fmla="*/ 822090 h 1254845"/>
              <a:gd name="connsiteX3" fmla="*/ 772206 w 1544359"/>
              <a:gd name="connsiteY3" fmla="*/ 1254845 h 1254845"/>
              <a:gd name="connsiteX4" fmla="*/ 0 w 1544359"/>
              <a:gd name="connsiteY4" fmla="*/ 822027 h 1254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44359" h="1254845">
                <a:moveTo>
                  <a:pt x="0" y="0"/>
                </a:moveTo>
                <a:lnTo>
                  <a:pt x="1544359" y="0"/>
                </a:lnTo>
                <a:lnTo>
                  <a:pt x="1543519" y="822090"/>
                </a:lnTo>
                <a:lnTo>
                  <a:pt x="772206" y="1254845"/>
                </a:lnTo>
                <a:lnTo>
                  <a:pt x="0" y="82202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Hexagon 21">
            <a:extLst>
              <a:ext uri="{FF2B5EF4-FFF2-40B4-BE49-F238E27FC236}">
                <a16:creationId xmlns:a16="http://schemas.microsoft.com/office/drawing/2014/main" id="{AA088CB3-68C2-8BF7-640B-511D7AD708D4}"/>
              </a:ext>
            </a:extLst>
          </p:cNvPr>
          <p:cNvSpPr/>
          <p:nvPr userDrawn="1"/>
        </p:nvSpPr>
        <p:spPr>
          <a:xfrm>
            <a:off x="2757266" y="2493385"/>
            <a:ext cx="1467568" cy="1305975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rgbClr val="D844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Hexagon 28">
            <a:extLst>
              <a:ext uri="{FF2B5EF4-FFF2-40B4-BE49-F238E27FC236}">
                <a16:creationId xmlns:a16="http://schemas.microsoft.com/office/drawing/2014/main" id="{E4EF439B-1CC3-CA39-B62A-E54F83ED70D2}"/>
              </a:ext>
            </a:extLst>
          </p:cNvPr>
          <p:cNvSpPr/>
          <p:nvPr userDrawn="1"/>
        </p:nvSpPr>
        <p:spPr>
          <a:xfrm>
            <a:off x="396269" y="251164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rgbClr val="9843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Hexagon 21">
            <a:extLst>
              <a:ext uri="{FF2B5EF4-FFF2-40B4-BE49-F238E27FC236}">
                <a16:creationId xmlns:a16="http://schemas.microsoft.com/office/drawing/2014/main" id="{A38FF139-88E9-67A9-6010-4EDFB851076B}"/>
              </a:ext>
            </a:extLst>
          </p:cNvPr>
          <p:cNvSpPr/>
          <p:nvPr userDrawn="1"/>
        </p:nvSpPr>
        <p:spPr>
          <a:xfrm>
            <a:off x="5150156" y="5261378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Hexagon 21">
            <a:extLst>
              <a:ext uri="{FF2B5EF4-FFF2-40B4-BE49-F238E27FC236}">
                <a16:creationId xmlns:a16="http://schemas.microsoft.com/office/drawing/2014/main" id="{99956147-4454-5EA6-FC9C-94C08EE35F28}"/>
              </a:ext>
            </a:extLst>
          </p:cNvPr>
          <p:cNvSpPr/>
          <p:nvPr userDrawn="1"/>
        </p:nvSpPr>
        <p:spPr>
          <a:xfrm>
            <a:off x="3948599" y="3206642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0" y="731520"/>
            <a:ext cx="5394960" cy="2103120"/>
          </a:xfrm>
        </p:spPr>
        <p:txBody>
          <a:bodyPr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035040" y="3108960"/>
            <a:ext cx="5394960" cy="187979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5063E-18FA-43E8-A3C5-0C73E853A055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4BCCA-4455-409E-8601-E19B170088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9501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1" r:id="rId2"/>
    <p:sldLayoutId id="2147483674" r:id="rId3"/>
    <p:sldLayoutId id="2147483669" r:id="rId4"/>
    <p:sldLayoutId id="2147483655" r:id="rId5"/>
    <p:sldLayoutId id="2147483651" r:id="rId6"/>
    <p:sldLayoutId id="2147483662" r:id="rId7"/>
    <p:sldLayoutId id="2147483653" r:id="rId8"/>
    <p:sldLayoutId id="2147483663" r:id="rId9"/>
    <p:sldLayoutId id="2147483665" r:id="rId10"/>
    <p:sldLayoutId id="214748367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73152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09728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46304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t>2</a:t>
            </a:fld>
            <a:endParaRPr lang="en-US" altLang="zh-CN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830320" y="1211499"/>
            <a:ext cx="5171768" cy="897194"/>
          </a:xfrm>
        </p:spPr>
        <p:txBody>
          <a:bodyPr anchor="t" anchorCtr="0"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30319" y="2722880"/>
            <a:ext cx="5171769" cy="230832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prstClr val="white"/>
                </a:solidFill>
                <a:latin typeface="Posterama" panose="020B0504020200020000" pitchFamily="34" charset="0"/>
                <a:ea typeface="Microsoft YaHei" panose="020B0503020204020204" charset="-122"/>
                <a:cs typeface="Posterama" panose="020B0504020200020000" pitchFamily="34" charset="0"/>
              </a:rPr>
              <a:t>Financial data is fragmented across multiple tools.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>
              <a:solidFill>
                <a:prstClr val="white"/>
              </a:solidFill>
              <a:latin typeface="Posterama" panose="020B0504020200020000" pitchFamily="34" charset="0"/>
              <a:ea typeface="Microsoft YaHei" panose="020B0503020204020204" charset="-122"/>
              <a:cs typeface="Posterama" panose="020B0504020200020000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prstClr val="white"/>
                </a:solidFill>
                <a:latin typeface="Posterama" panose="020B0504020200020000" pitchFamily="34" charset="0"/>
                <a:ea typeface="Microsoft YaHei" panose="020B0503020204020204" charset="-122"/>
                <a:cs typeface="Posterama" panose="020B0504020200020000" pitchFamily="34" charset="0"/>
              </a:rPr>
              <a:t>Risk, correlations and strategy performance are difficult to analyze together.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>
              <a:solidFill>
                <a:prstClr val="white"/>
              </a:solidFill>
              <a:latin typeface="Posterama" panose="020B0504020200020000" pitchFamily="34" charset="0"/>
              <a:ea typeface="Microsoft YaHei" panose="020B0503020204020204" charset="-122"/>
              <a:cs typeface="Posterama" panose="020B0504020200020000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prstClr val="white"/>
                </a:solidFill>
                <a:latin typeface="Posterama" panose="020B0504020200020000" pitchFamily="34" charset="0"/>
                <a:ea typeface="Microsoft YaHei" panose="020B0503020204020204" charset="-122"/>
                <a:cs typeface="Posterama" panose="020B0504020200020000" pitchFamily="34" charset="0"/>
              </a:rPr>
              <a:t>Researchers need one unified quantitative platform.</a:t>
            </a:r>
            <a:endParaRPr lang="en-IN" dirty="0">
              <a:solidFill>
                <a:prstClr val="white"/>
              </a:solidFill>
              <a:latin typeface="Posterama" panose="020B0504020200020000" pitchFamily="34" charset="0"/>
              <a:ea typeface="Microsoft YaHei" panose="020B0503020204020204" charset="-122"/>
              <a:cs typeface="Posterama" panose="020B0504020200020000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918069" y="1017946"/>
            <a:ext cx="5462587" cy="887413"/>
          </a:xfrm>
        </p:spPr>
        <p:txBody>
          <a:bodyPr lIns="0" anchor="b" anchorCtr="0"/>
          <a:lstStyle/>
          <a:p>
            <a:r>
              <a:rPr lang="en-US" dirty="0"/>
              <a:t>Proposed Solution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6918069" y="2178660"/>
            <a:ext cx="4524057" cy="346424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QUANT-X unifies multi-asset analysis, risk measurement and backtesting.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Market Regime Radar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Strategy X-Ray , Strategy Stress Lab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Portfolio What-If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“What If?” Replay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926" y="1117523"/>
            <a:ext cx="6150078" cy="387390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4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512560" y="1481773"/>
            <a:ext cx="5029200" cy="3382962"/>
          </a:xfrm>
          <a:noFill/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Quantitative Analysis</a:t>
            </a:r>
          </a:p>
          <a:p>
            <a:pPr marL="0" indent="0">
              <a:buNone/>
            </a:pP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 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EMA 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Returns 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Volatility 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Sharpe 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Drawdown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and rolling analysis reveal asset relationships.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charts turn data into clear insights.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19" y="1305560"/>
            <a:ext cx="6092761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72720" y="1244600"/>
            <a:ext cx="5029200" cy="1431925"/>
          </a:xfrm>
        </p:spPr>
        <p:txBody>
          <a:bodyPr lIns="0" anchor="t" anchorCtr="0"/>
          <a:lstStyle/>
          <a:p>
            <a:r>
              <a:rPr lang="en-US" dirty="0"/>
              <a:t>BackTesting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172720" y="2265363"/>
            <a:ext cx="3738563" cy="3403600"/>
          </a:xfrm>
        </p:spPr>
        <p:txBody>
          <a:bodyPr anchor="b" anchorCtr="0"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 Crossover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 Trend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Momentum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Mean Reversion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 capital, position sizing, transaction costs and trades.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strategies against Buy &amp; Hold.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1359" y="1512028"/>
            <a:ext cx="6844601" cy="38521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t>6</a:t>
            </a:fld>
            <a:endParaRPr lang="en-US" altLang="zh-CN" noProof="0" dirty="0"/>
          </a:p>
        </p:txBody>
      </p:sp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142240" y="924879"/>
            <a:ext cx="5730240" cy="1056322"/>
          </a:xfrm>
        </p:spPr>
        <p:txBody>
          <a:bodyPr/>
          <a:lstStyle/>
          <a:p>
            <a:r>
              <a:rPr lang="en-US" dirty="0"/>
              <a:t>Intelligence Layer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4294967295"/>
          </p:nvPr>
        </p:nvSpPr>
        <p:spPr>
          <a:xfrm>
            <a:off x="142240" y="2537427"/>
            <a:ext cx="4998720" cy="386080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Market Radar 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Strategy X-Ray 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Stress Lab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Radar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Portfolio What-If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Replay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strategy behaviour across changing market conditions.</a:t>
            </a:r>
          </a:p>
        </p:txBody>
      </p:sp>
      <p:sp>
        <p:nvSpPr>
          <p:cNvPr id="6" name="Slide Number Placeholder 13"/>
          <p:cNvSpPr txBox="1"/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0960" y="1863962"/>
            <a:ext cx="6634480" cy="373387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638" y="2353595"/>
            <a:ext cx="11533239" cy="432496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13008" y="1014868"/>
            <a:ext cx="609600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QUANT-X IMPACT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903"/>
      </a:accent2>
      <a:accent3>
        <a:srgbClr val="75262A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6">
      <a:majorFont>
        <a:latin typeface="Posterama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M9027928_win32_EF_v4" id="{FA821E7E-D625-4DCD-A30E-3216B54C8383}" vid="{DE28BE6C-8054-44B2-A92D-A1CAFC256BDB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0009351-EDD4-484E-ACD6-D50CCB13763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9897CAE-455D-42C9-A951-0C21BC12254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8DB3C62-858A-4A01-AFEF-21E0BB8CE26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Hexagon presentation dark</Template>
  <TotalTime>3</TotalTime>
  <Words>152</Words>
  <Application>Microsoft Office PowerPoint</Application>
  <PresentationFormat>Widescreen</PresentationFormat>
  <Paragraphs>37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等线</vt:lpstr>
      <vt:lpstr>Abadi</vt:lpstr>
      <vt:lpstr>Arial</vt:lpstr>
      <vt:lpstr>Calibri</vt:lpstr>
      <vt:lpstr>Posterama</vt:lpstr>
      <vt:lpstr>Posterama Text SemiBold</vt:lpstr>
      <vt:lpstr>Times New Roman</vt:lpstr>
      <vt:lpstr>Wingdings</vt:lpstr>
      <vt:lpstr>Custom</vt:lpstr>
      <vt:lpstr>PowerPoint Presentation</vt:lpstr>
      <vt:lpstr>THE PROBLEM</vt:lpstr>
      <vt:lpstr>Proposed Solution</vt:lpstr>
      <vt:lpstr>PowerPoint Presentation</vt:lpstr>
      <vt:lpstr>BackTesting</vt:lpstr>
      <vt:lpstr>Intelligence Layer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Kathyayani .N</dc:creator>
  <cp:lastModifiedBy>Kathyayani .N</cp:lastModifiedBy>
  <cp:revision>1</cp:revision>
  <dcterms:created xsi:type="dcterms:W3CDTF">2026-09-20T04:25:29Z</dcterms:created>
  <dcterms:modified xsi:type="dcterms:W3CDTF">2026-09-20T04:29:02Z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